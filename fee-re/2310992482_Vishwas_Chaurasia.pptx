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96" r:id="rId5"/>
  </p:sldMasterIdLst>
  <p:sldIdLst>
    <p:sldId id="268" r:id="rId7"/>
    <p:sldId id="267" r:id="rId8"/>
    <p:sldId id="271" r:id="rId9"/>
    <p:sldId id="273" r:id="rId10"/>
    <p:sldId id="272" r:id="rId11"/>
    <p:sldId id="274" r:id="rId12"/>
    <p:sldId id="275" r:id="rId13"/>
    <p:sldId id="282" r:id="rId14"/>
    <p:sldId id="283" r:id="rId15"/>
    <p:sldId id="285" r:id="rId16"/>
    <p:sldId id="284" r:id="rId17"/>
    <p:sldId id="286" r:id="rId18"/>
    <p:sldId id="278" r:id="rId19"/>
    <p:sldId id="279" r:id="rId20"/>
    <p:sldId id="265" r:id="rId21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0">
          <p15:clr>
            <a:srgbClr val="A4A3A4"/>
          </p15:clr>
        </p15:guide>
        <p15:guide id="2" pos="2878" userDrawn="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212" autoAdjust="0"/>
    <p:restoredTop sz="94660"/>
  </p:normalViewPr>
  <p:slideViewPr>
    <p:cSldViewPr snapToGrid="1" snapToObjects="1">
      <p:cViewPr varScale="1">
        <p:scale>
          <a:sx n="85" d="100"/>
          <a:sy n="85" d="100"/>
        </p:scale>
        <p:origin x="1397" y="125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5" Type="http://schemas.openxmlformats.org/officeDocument/2006/relationships/slideMaster" Target="slideMasters/slideMaster1.xml"></Relationship><Relationship Id="rId6" Type="http://schemas.openxmlformats.org/officeDocument/2006/relationships/theme" Target="theme/theme1.xml"></Relationship><Relationship Id="rId7" Type="http://schemas.openxmlformats.org/officeDocument/2006/relationships/slide" Target="slides/slide1.xml"></Relationship><Relationship Id="rId8" Type="http://schemas.openxmlformats.org/officeDocument/2006/relationships/slide" Target="slides/slide2.xml"></Relationship><Relationship Id="rId9" Type="http://schemas.openxmlformats.org/officeDocument/2006/relationships/slide" Target="slides/slide3.xml"></Relationship><Relationship Id="rId10" Type="http://schemas.openxmlformats.org/officeDocument/2006/relationships/slide" Target="slides/slide4.xml"></Relationship><Relationship Id="rId11" Type="http://schemas.openxmlformats.org/officeDocument/2006/relationships/slide" Target="slides/slide5.xml"></Relationship><Relationship Id="rId12" Type="http://schemas.openxmlformats.org/officeDocument/2006/relationships/slide" Target="slides/slide6.xml"></Relationship><Relationship Id="rId13" Type="http://schemas.openxmlformats.org/officeDocument/2006/relationships/slide" Target="slides/slide7.xml"></Relationship><Relationship Id="rId14" Type="http://schemas.openxmlformats.org/officeDocument/2006/relationships/slide" Target="slides/slide8.xml"></Relationship><Relationship Id="rId15" Type="http://schemas.openxmlformats.org/officeDocument/2006/relationships/slide" Target="slides/slide9.xml"></Relationship><Relationship Id="rId16" Type="http://schemas.openxmlformats.org/officeDocument/2006/relationships/slide" Target="slides/slide10.xml"></Relationship><Relationship Id="rId17" Type="http://schemas.openxmlformats.org/officeDocument/2006/relationships/slide" Target="slides/slide11.xml"></Relationship><Relationship Id="rId18" Type="http://schemas.openxmlformats.org/officeDocument/2006/relationships/slide" Target="slides/slide12.xml"></Relationship><Relationship Id="rId19" Type="http://schemas.openxmlformats.org/officeDocument/2006/relationships/slide" Target="slides/slide13.xml"></Relationship><Relationship Id="rId20" Type="http://schemas.openxmlformats.org/officeDocument/2006/relationships/slide" Target="slides/slide14.xml"></Relationship><Relationship Id="rId21" Type="http://schemas.openxmlformats.org/officeDocument/2006/relationships/slide" Target="slides/slide15.xml"></Relationship><Relationship Id="rId22" Type="http://schemas.openxmlformats.org/officeDocument/2006/relationships/viewProps" Target="viewProps.xml"></Relationship><Relationship Id="rId23" Type="http://schemas.openxmlformats.org/officeDocument/2006/relationships/presProps" Target="presProps.xml"></Relationship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pPr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5" descr="log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pPr/>
              <a:t>10/10/2023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pPr/>
              <a:t>10/10/2023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4000">
    <p:cut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1D5BB0C6-8FC1-47C0-B737-D54E21B5B868}" type="datetimeFigureOut">
              <a:rPr lang="en-US" smtClean="0"/>
              <a:pPr/>
              <a:t>10/10/2023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0070C0"/>
                </a:solidFill>
                <a:latin typeface="Times New Roman" pitchFamily="18" charset="0"/>
                <a:ea typeface="ＭＳ Ｐゴシック" charset="-128"/>
                <a:cs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charset="0"/>
              <a:ea typeface="ＭＳ Ｐゴシック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5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038" name="Picture 15" descr="logo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transition advTm="4000">
    <p:cut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/>
          <a:cs typeface="MS PGothic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/Relationships>
</file>

<file path=ppt/slides/_rels/slide4.xml.rels><?xml version="1.0" encoding="UTF-8"?>
<Relationships xmlns="http://schemas.openxmlformats.org/package/2006/relationships"><Relationship Id="rId2" Type="http://schemas.openxmlformats.org/officeDocument/2006/relationships/image" Target="../media/image3.png"></Relationship><Relationship Id="rId3" Type="http://schemas.openxmlformats.org/officeDocument/2006/relationships/slideLayout" Target="../slideLayouts/slideLayout3.xml"></Relationship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/Relationships>
</file>

<file path=ppt/slides/_rels/slide7.xml.rels><?xml version="1.0" encoding="UTF-8"?>
<Relationships xmlns="http://schemas.openxmlformats.org/package/2006/relationships"><Relationship Id="rId3" Type="http://schemas.openxmlformats.org/officeDocument/2006/relationships/image" Target="../media/fImage406097815737.png"></Relationship><Relationship Id="rId4" Type="http://schemas.openxmlformats.org/officeDocument/2006/relationships/slideLayout" Target="../slideLayouts/slideLayout3.xml"></Relationship></Relationships>
</file>

<file path=ppt/slides/_rels/slide8.xml.rels><?xml version="1.0" encoding="UTF-8"?>
<Relationships xmlns="http://schemas.openxmlformats.org/package/2006/relationships"><Relationship Id="rId3" Type="http://schemas.openxmlformats.org/officeDocument/2006/relationships/image" Target="../media/fImage456892763133.png"></Relationship><Relationship Id="rId4" Type="http://schemas.openxmlformats.org/officeDocument/2006/relationships/slideLayout" Target="../slideLayouts/slideLayout1.xml"></Relationship></Relationships>
</file>

<file path=ppt/slides/_rels/slide9.xml.rels><?xml version="1.0" encoding="UTF-8"?>
<Relationships xmlns="http://schemas.openxmlformats.org/package/2006/relationships"><Relationship Id="rId2" Type="http://schemas.openxmlformats.org/officeDocument/2006/relationships/image" Target="../media/image6.png"></Relationship><Relationship Id="rId3" Type="http://schemas.openxmlformats.org/officeDocument/2006/relationships/image" Target="../media/fImage46538377591.png"></Relationship><Relationship Id="rId4" Type="http://schemas.openxmlformats.org/officeDocument/2006/relationships/slideLayout" Target="../slideLayouts/slideLayout1.xml"></Relationship></Relationships>
</file>

<file path=ppt/slides/_rels/slide10.xml.rels><?xml version="1.0" encoding="UTF-8"?>
<Relationships xmlns="http://schemas.openxmlformats.org/package/2006/relationships"><Relationship Id="rId2" Type="http://schemas.openxmlformats.org/officeDocument/2006/relationships/image" Target="../media/image7.jpeg"></Relationship><Relationship Id="rId3" Type="http://schemas.openxmlformats.org/officeDocument/2006/relationships/image" Target="../media/fImage189758783720.png"></Relationship><Relationship Id="rId4" Type="http://schemas.openxmlformats.org/officeDocument/2006/relationships/slideLayout" Target="../slideLayouts/slideLayout1.xml"></Relationship></Relationships>
</file>

<file path=ppt/slides/_rels/slide11.xml.rels><?xml version="1.0" encoding="UTF-8"?>
<Relationships xmlns="http://schemas.openxmlformats.org/package/2006/relationships"><Relationship Id="rId2" Type="http://schemas.openxmlformats.org/officeDocument/2006/relationships/image" Target="../media/image8.jpeg"></Relationship><Relationship Id="rId3" Type="http://schemas.openxmlformats.org/officeDocument/2006/relationships/image" Target="../media/fImage288847798762.png"></Relationship><Relationship Id="rId4" Type="http://schemas.openxmlformats.org/officeDocument/2006/relationships/slideLayout" Target="../slideLayouts/slideLayout1.xml"></Relationship></Relationships>
</file>

<file path=ppt/slides/_rels/slide12.xml.rels><?xml version="1.0" encoding="UTF-8"?>
<Relationships xmlns="http://schemas.openxmlformats.org/package/2006/relationships"><Relationship Id="rId3" Type="http://schemas.openxmlformats.org/officeDocument/2006/relationships/image" Target="../media/fImage100882806633.png"></Relationship><Relationship Id="rId4" Type="http://schemas.openxmlformats.org/officeDocument/2006/relationships/slideLayout" Target="../slideLayouts/slideLayout1.xml"></Relationship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59840" y="1312545"/>
            <a:ext cx="6624955" cy="1384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b="1" dirty="0">
                <a:solidFill>
                  <a:srgbClr val="FF0000"/>
                </a:solidFill>
                <a:latin typeface="Footlight MT Light" panose="0204060206030A020304" pitchFamily="18" charset="0"/>
                <a:cs typeface="Arial" panose="020B0604020202020204" pitchFamily="34" charset="0"/>
              </a:rPr>
              <a:t>Front End Engineering-I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5965" y="4653280"/>
            <a:ext cx="255270" cy="954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96CC0-0544-9FD2-7AFD-B23ECB7AE8F4}"/>
              </a:ext>
            </a:extLst>
          </p:cNvPr>
          <p:cNvSpPr txBox="1"/>
          <p:nvPr/>
        </p:nvSpPr>
        <p:spPr>
          <a:xfrm>
            <a:off x="2195830" y="2853055"/>
            <a:ext cx="5113020" cy="229108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numCol="1" vert="horz" anchor="t">
            <a:spAutoFit/>
          </a:bodyPr>
          <a:lstStyle/>
          <a:p>
            <a:pPr marL="0" indent="0" latinLnBrk="0">
              <a:buFontTx/>
              <a:buNone/>
            </a:pPr>
            <a:r>
              <a:rPr lang="en-US" sz="2400" u="sng">
                <a:solidFill>
                  <a:schemeClr val="tx1"/>
                </a:solidFill>
                <a:effectLst>
                  <a:outerShdw sx="100000" sy="100000" blurRad="38100" dist="19050" dir="2700000" rotWithShape="0" algn="tl">
                    <a:schemeClr val="dk1">
                      <a:alpha val="40000"/>
                    </a:schemeClr>
                  </a:outerShdw>
                </a:effectLst>
                <a:latin typeface="Footlight MT Light" charset="0"/>
                <a:ea typeface="Calibri" charset="0"/>
                <a:cs typeface="+mn-cs"/>
              </a:rPr>
              <a:t>Student-Details:</a:t>
            </a:r>
            <a:endParaRPr lang="ko-KR" altLang="en-US" sz="2400" u="sng">
              <a:solidFill>
                <a:schemeClr val="tx1"/>
              </a:solidFill>
              <a:latin typeface="Footlight MT Light" charset="0"/>
            </a:endParaRPr>
          </a:p>
          <a:p>
            <a:pPr marL="285750" indent="-285750" latinLnBrk="0">
              <a:buFont typeface="Arial"/>
              <a:buChar char="•"/>
            </a:pPr>
            <a:r>
              <a:rPr lang="en-US" sz="1700">
                <a:solidFill>
                  <a:schemeClr val="tx1"/>
                </a:solidFill>
                <a:effectLst>
                  <a:outerShdw sx="100000" sy="100000" blurRad="38100" dist="19050" dir="2700000" rotWithShape="0" algn="tl">
                    <a:schemeClr val="dk1">
                      <a:alpha val="40000"/>
                    </a:schemeClr>
                  </a:outerShdw>
                </a:effectLst>
                <a:latin typeface="Georgia" charset="0"/>
              </a:rPr>
              <a:t>Vishwas Chaurasia(2310992482)</a:t>
            </a:r>
            <a:endParaRPr lang="ko-KR" altLang="en-US" sz="1700">
              <a:solidFill>
                <a:schemeClr val="tx1"/>
              </a:solidFill>
              <a:latin typeface="Georgia" charset="0"/>
            </a:endParaRPr>
          </a:p>
          <a:p>
            <a:pPr marL="0" indent="0" latinLnBrk="0">
              <a:buFontTx/>
              <a:buNone/>
            </a:pPr>
            <a:endParaRPr lang="ko-KR" altLang="en-US">
              <a:solidFill>
                <a:schemeClr val="tx1"/>
              </a:solidFill>
            </a:endParaRPr>
          </a:p>
          <a:p>
            <a:pPr marL="0" indent="0" latinLnBrk="0">
              <a:buFontTx/>
              <a:buNone/>
            </a:pPr>
            <a:r>
              <a:rPr lang="en-US" sz="2400" u="sng">
                <a:solidFill>
                  <a:schemeClr val="tx1"/>
                </a:solidFill>
                <a:effectLst>
                  <a:outerShdw sx="100000" sy="100000" blurRad="38100" dist="19050" dir="2700000" rotWithShape="0" algn="tl">
                    <a:schemeClr val="dk1">
                      <a:alpha val="40000"/>
                    </a:schemeClr>
                  </a:outerShdw>
                </a:effectLst>
                <a:latin typeface="Footlight MT Light" charset="0"/>
                <a:ea typeface="Calibri" charset="0"/>
                <a:cs typeface="+mn-cs"/>
              </a:rPr>
              <a:t>Faculty</a:t>
            </a:r>
            <a:r>
              <a:rPr lang="en-US" sz="2400" u="sng">
                <a:solidFill>
                  <a:schemeClr val="tx1"/>
                </a:solidFill>
                <a:effectLst>
                  <a:outerShdw sx="100000" sy="100000" blurRad="38100" dist="19050" dir="2700000" rotWithShape="0" algn="tl">
                    <a:schemeClr val="dk1">
                      <a:alpha val="40000"/>
                    </a:schemeClr>
                  </a:outerShdw>
                </a:effectLst>
                <a:latin typeface="Footlight MT Light" charset="0"/>
              </a:rPr>
              <a:t> :</a:t>
            </a:r>
            <a:endParaRPr lang="ko-KR" altLang="en-US" sz="2400" u="sng">
              <a:solidFill>
                <a:schemeClr val="tx1"/>
              </a:solidFill>
              <a:latin typeface="Footlight MT Light" charset="0"/>
            </a:endParaRPr>
          </a:p>
          <a:p>
            <a:pPr marL="0" indent="0" latinLnBrk="0">
              <a:buFontTx/>
              <a:buNone/>
            </a:pPr>
            <a:r>
              <a:rPr lang="en-US" sz="2400" u="sng">
                <a:solidFill>
                  <a:schemeClr val="tx1"/>
                </a:solidFill>
                <a:effectLst>
                  <a:outerShdw sx="100000" sy="100000" blurRad="38100" dist="19050" dir="2700000" rotWithShape="0" algn="tl">
                    <a:schemeClr val="dk1">
                      <a:alpha val="40000"/>
                    </a:schemeClr>
                  </a:outerShdw>
                </a:effectLst>
                <a:latin typeface="Footlight MT Light" charset="0"/>
                <a:ea typeface="Calibri" charset="0"/>
                <a:cs typeface="+mn-cs"/>
              </a:rPr>
              <a:t>Dr.Mohammad</a:t>
            </a:r>
            <a:r>
              <a:rPr lang="en-US" sz="2400" u="sng">
                <a:solidFill>
                  <a:schemeClr val="tx1"/>
                </a:solidFill>
                <a:effectLst>
                  <a:outerShdw sx="100000" sy="100000" blurRad="38100" dist="19050" dir="2700000" rotWithShape="0" algn="tl">
                    <a:schemeClr val="dk1">
                      <a:alpha val="40000"/>
                    </a:schemeClr>
                  </a:outerShdw>
                </a:effectLst>
                <a:latin typeface="Footlight MT Light" charset="0"/>
                <a:ea typeface="Calibri" charset="0"/>
                <a:cs typeface="+mn-cs"/>
              </a:rPr>
              <a:t> Shuaib Khan</a:t>
            </a:r>
            <a:endParaRPr lang="ko-KR" altLang="en-US" sz="2400" u="sng">
              <a:solidFill>
                <a:schemeClr val="tx1"/>
              </a:solidFill>
              <a:latin typeface="Footlight MT Light" charset="0"/>
            </a:endParaRPr>
          </a:p>
          <a:p>
            <a:pPr marL="0" indent="0" latinLnBrk="0">
              <a:buFontTx/>
              <a:buNone/>
            </a:pPr>
            <a:endParaRPr lang="ko-KR" altLang="en-US">
              <a:solidFill>
                <a:schemeClr val="bg1"/>
              </a:solidFill>
            </a:endParaRPr>
          </a:p>
          <a:p>
            <a:pPr marL="0" indent="0" latinLnBrk="0">
              <a:buFontTx/>
              <a:buNone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7450" y="5661025"/>
            <a:ext cx="6946900" cy="7080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Chitkara University Institute of Engineering and Technology, 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Chitkara University, Punjab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 advTm="4000">
        <p:cut/>
      </p:transition>
    </mc:Choice>
    <mc:Fallback>
      <p:transition spd="slow" advTm="4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6379" y="116632"/>
            <a:ext cx="540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  <a:cs typeface="Times New Roman" pitchFamily="18" charset="0"/>
              </a:rPr>
              <a:t>Table of Contents: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97DE2F6F-1EDE-83AF-0DA5-449803894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215485"/>
              </p:ext>
            </p:extLst>
          </p:nvPr>
        </p:nvGraphicFramePr>
        <p:xfrm>
          <a:off x="516379" y="1340964"/>
          <a:ext cx="8111241" cy="478314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111241">
                  <a:extLst>
                    <a:ext uri="{9D8B030D-6E8A-4147-A177-3AD203B41FA5}">
                      <a16:colId xmlns:a16="http://schemas.microsoft.com/office/drawing/2014/main" val="593197888"/>
                    </a:ext>
                  </a:extLst>
                </a:gridCol>
              </a:tblGrid>
              <a:tr h="533622">
                <a:tc>
                  <a:txBody>
                    <a:bodyPr/>
                    <a:lstStyle/>
                    <a:p>
                      <a:endParaRPr lang="en-IN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645364"/>
                  </a:ext>
                </a:extLst>
              </a:tr>
              <a:tr h="607075">
                <a:tc>
                  <a:txBody>
                    <a:bodyPr/>
                    <a:lstStyle/>
                    <a:p>
                      <a:pPr algn="ctr"/>
                      <a:r>
                        <a:rPr lang="en-US" sz="32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Footlight MT Light" panose="0204060206030A020304" pitchFamily="18" charset="0"/>
                        </a:rPr>
                        <a:t>Introduction</a:t>
                      </a:r>
                      <a:endParaRPr lang="en-IN" sz="32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427203"/>
                  </a:ext>
                </a:extLst>
              </a:tr>
              <a:tr h="607075">
                <a:tc>
                  <a:txBody>
                    <a:bodyPr/>
                    <a:lstStyle/>
                    <a:p>
                      <a:pPr algn="ctr"/>
                      <a:r>
                        <a:rPr lang="en-US" sz="32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Footlight MT Light" panose="0204060206030A020304" pitchFamily="18" charset="0"/>
                        </a:rPr>
                        <a:t>Problem Statement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86228"/>
                  </a:ext>
                </a:extLst>
              </a:tr>
              <a:tr h="607075">
                <a:tc>
                  <a:txBody>
                    <a:bodyPr/>
                    <a:lstStyle/>
                    <a:p>
                      <a:pPr algn="ctr"/>
                      <a:r>
                        <a:rPr lang="en-US" sz="32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Footlight MT Light" panose="0204060206030A020304" pitchFamily="18" charset="0"/>
                        </a:rPr>
                        <a:t>Technical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943139"/>
                  </a:ext>
                </a:extLst>
              </a:tr>
              <a:tr h="607075">
                <a:tc>
                  <a:txBody>
                    <a:bodyPr/>
                    <a:lstStyle/>
                    <a:p>
                      <a:pPr algn="ctr"/>
                      <a:r>
                        <a:rPr lang="en-US" sz="32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Footlight MT Light" panose="0204060206030A020304" pitchFamily="18" charset="0"/>
                        </a:rPr>
                        <a:t>Key Features </a:t>
                      </a:r>
                      <a:endParaRPr lang="en-IN" sz="32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Footlight MT Light" panose="0204060206030A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996552"/>
                  </a:ext>
                </a:extLst>
              </a:tr>
              <a:tr h="607075">
                <a:tc>
                  <a:txBody>
                    <a:bodyPr/>
                    <a:lstStyle/>
                    <a:p>
                      <a:pPr algn="ctr"/>
                      <a:r>
                        <a:rPr lang="en-US" sz="32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Footlight MT Light" panose="0204060206030A020304" pitchFamily="18" charset="0"/>
                        </a:rPr>
                        <a:t>Project Highlights</a:t>
                      </a:r>
                      <a:endParaRPr lang="en-IN" sz="32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Footlight MT Light" panose="0204060206030A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775485"/>
                  </a:ext>
                </a:extLst>
              </a:tr>
              <a:tr h="607075">
                <a:tc>
                  <a:txBody>
                    <a:bodyPr/>
                    <a:lstStyle/>
                    <a:p>
                      <a:pPr algn="ctr"/>
                      <a:r>
                        <a:rPr lang="en-US" sz="32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Footlight MT Light" panose="0204060206030A020304" pitchFamily="18" charset="0"/>
                        </a:rPr>
                        <a:t>Conclusion </a:t>
                      </a:r>
                      <a:endParaRPr lang="en-IN" sz="32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Footlight MT Light" panose="0204060206030A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248122"/>
                  </a:ext>
                </a:extLst>
              </a:tr>
              <a:tr h="607075">
                <a:tc>
                  <a:txBody>
                    <a:bodyPr/>
                    <a:lstStyle/>
                    <a:p>
                      <a:pPr algn="ctr"/>
                      <a:r>
                        <a:rPr lang="en-US" sz="32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Footlight MT Light" panose="0204060206030A020304" pitchFamily="18" charset="0"/>
                        </a:rPr>
                        <a:t>Reference</a:t>
                      </a:r>
                      <a:endParaRPr lang="en-IN" sz="32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Footlight MT Light" panose="0204060206030A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374595"/>
                  </a:ext>
                </a:extLst>
              </a:tr>
            </a:tbl>
          </a:graphicData>
        </a:graphic>
      </p:graphicFrame>
    </p:spTree>
  </p:cSld>
  <p:clrMapOvr>
    <a:masterClrMapping/>
  </p:clrMapOvr>
  <p:transition advTm="4000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3860" y="116840"/>
            <a:ext cx="540067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  <a:cs typeface="Times New Roman" pitchFamily="18" charset="0"/>
              </a:rPr>
              <a:t>Introduction: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5605" y="1196975"/>
            <a:ext cx="8137525" cy="2244090"/>
          </a:xfrm>
          <a:prstGeom prst="rect">
            <a:avLst/>
          </a:prstGeom>
        </p:spPr>
        <p:txBody>
          <a:bodyPr wrap="square" lIns="91440" tIns="45720" rIns="91440" bIns="45720" numCol="1" vert="horz" anchor="t">
            <a:spAutoFit/>
          </a:bodyPr>
          <a:lstStyle/>
          <a:p>
            <a:pPr marL="571500" indent="-571500" latinLnBrk="0">
              <a:buFont typeface="Wingdings"/>
              <a:buChar char="q"/>
            </a:pPr>
            <a:r>
              <a:rPr lang="en-US" sz="2800" b="1">
                <a:effectLst>
                  <a:outerShdw sx="100000" sy="100000" blurRad="38100" dist="19050" dir="2700000" rotWithShape="0" algn="tl">
                    <a:schemeClr val="dk1">
                      <a:alpha val="40000"/>
                    </a:schemeClr>
                  </a:outerShdw>
                </a:effectLst>
                <a:latin typeface="Footlight MT Light" charset="0"/>
                <a:cs typeface="Times New Roman" charset="0"/>
              </a:rPr>
              <a:t>Title of the Project: </a:t>
            </a:r>
            <a:r>
              <a:rPr lang="en-US" sz="2800" u="sng">
                <a:effectLst>
                  <a:outerShdw sx="100000" sy="100000" blurRad="38100" dist="19050" dir="2700000" rotWithShape="0" algn="tl">
                    <a:schemeClr val="dk1">
                      <a:alpha val="40000"/>
                    </a:schemeClr>
                  </a:outerShdw>
                </a:effectLst>
                <a:latin typeface="Times New Roman" charset="0"/>
                <a:cs typeface="Times New Roman" charset="0"/>
              </a:rPr>
              <a:t>Portfolio Site</a:t>
            </a:r>
            <a:endParaRPr lang="ko-KR" altLang="en-US" sz="2800" u="sng">
              <a:latin typeface="Times New Roman" charset="0"/>
              <a:cs typeface="Times New Roman" charset="0"/>
            </a:endParaRPr>
          </a:p>
          <a:p>
            <a:pPr marL="457200" indent="-457200" latinLnBrk="0">
              <a:buFont typeface="Wingdings"/>
              <a:buChar char="q"/>
            </a:pPr>
            <a:r>
              <a:rPr lang="en-US" sz="2400" u="sng" b="1">
                <a:effectLst>
                  <a:outerShdw sx="100000" sy="100000" blurRad="38100" dist="38100" dir="2700000" rotWithShape="1" algn="tl">
                    <a:srgbClr val="000000">
                      <a:alpha val="42745"/>
                    </a:srgbClr>
                  </a:outerShdw>
                </a:effectLst>
                <a:latin typeface="Times New Roman" charset="0"/>
                <a:cs typeface="Times New Roman" charset="0"/>
              </a:rPr>
              <a:t>Team Members:</a:t>
            </a:r>
            <a:endParaRPr lang="ko-KR" altLang="en-US" sz="2400" u="sng" b="1">
              <a:latin typeface="Times New Roman" charset="0"/>
              <a:cs typeface="Times New Roman" charset="0"/>
            </a:endParaRPr>
          </a:p>
          <a:p>
            <a:pPr marL="285750" indent="-285750" latinLnBrk="0">
              <a:buFont typeface="Arial"/>
              <a:buChar char="•"/>
            </a:pPr>
            <a:endParaRPr lang="ko-KR" altLang="en-US" sz="2000">
              <a:latin typeface="Georgia" charset="0"/>
            </a:endParaRPr>
          </a:p>
          <a:p>
            <a:pPr marL="285750" indent="-285750" latinLnBrk="0">
              <a:buFont typeface="Arial"/>
              <a:buChar char="•"/>
            </a:pPr>
            <a:r>
              <a:rPr lang="en-US" sz="2000">
                <a:effectLst>
                  <a:outerShdw sx="100000" sy="100000" blurRad="38100" dist="19050" dir="2700000" rotWithShape="0" algn="tl">
                    <a:schemeClr val="dk1">
                      <a:alpha val="40000"/>
                    </a:schemeClr>
                  </a:outerShdw>
                </a:effectLst>
                <a:latin typeface="Georgia" charset="0"/>
                <a:ea typeface="Calibri" charset="0"/>
                <a:cs typeface="+mn-cs"/>
              </a:rPr>
              <a:t>Vishwas</a:t>
            </a:r>
            <a:r>
              <a:rPr lang="en-US" sz="2000">
                <a:effectLst>
                  <a:outerShdw sx="100000" sy="100000" blurRad="38100" dist="19050" dir="2700000" rotWithShape="0" algn="tl">
                    <a:schemeClr val="dk1">
                      <a:alpha val="40000"/>
                    </a:schemeClr>
                  </a:outerShdw>
                </a:effectLst>
                <a:latin typeface="Georgia" charset="0"/>
              </a:rPr>
              <a:t> Chaurasia(2310992482)</a:t>
            </a:r>
            <a:endParaRPr lang="ko-KR" altLang="en-US" sz="2000">
              <a:latin typeface="Georgia" charset="0"/>
            </a:endParaRPr>
          </a:p>
          <a:p>
            <a:pPr marL="457200" indent="-457200" latinLnBrk="0">
              <a:buFontTx/>
              <a:buNone/>
            </a:pPr>
            <a:r>
              <a:rPr lang="en-US" sz="2000">
                <a:effectLst>
                  <a:outerShdw sx="100000" sy="100000" blurRad="38100" dist="19050" dir="2700000" rotWithShape="0" algn="tl">
                    <a:schemeClr val="dk1">
                      <a:alpha val="40000"/>
                    </a:schemeClr>
                  </a:outerShdw>
                </a:effectLst>
                <a:latin typeface="Times New Roman" charset="0"/>
                <a:cs typeface="Times New Roman" charset="0"/>
              </a:rPr>
              <a:t> </a:t>
            </a:r>
            <a:endParaRPr lang="ko-KR" altLang="en-US" sz="2000">
              <a:latin typeface="Times New Roman" charset="0"/>
              <a:cs typeface="Times New Roman" charset="0"/>
            </a:endParaRPr>
          </a:p>
          <a:p>
            <a:pPr marL="0" indent="0" latinLnBrk="0">
              <a:buFontTx/>
              <a:buNone/>
            </a:pPr>
            <a:endParaRPr lang="ko-KR" altLang="en-US" sz="2800">
              <a:latin typeface="Times New Roman" charset="0"/>
              <a:cs typeface="Times New Roman" charset="0"/>
            </a:endParaRPr>
          </a:p>
        </p:txBody>
      </p:sp>
      <p:sp>
        <p:nvSpPr>
          <p:cNvPr id="4" name="Rectangle: Diagonal Corners Snipped 3"/>
          <p:cNvSpPr>
            <a:spLocks/>
          </p:cNvSpPr>
          <p:nvPr/>
        </p:nvSpPr>
        <p:spPr>
          <a:xfrm rot="0">
            <a:off x="403860" y="3751580"/>
            <a:ext cx="8345170" cy="2640965"/>
          </a:xfrm>
          <a:prstGeom prst="snip2DiagRect"/>
          <a:ln w="19050" cap="flat" cmpd="sng">
            <a:solidFill>
              <a:schemeClr val="tx1">
                <a:alpha val="100000"/>
              </a:schemeClr>
            </a:solidFill>
            <a:prstDash val="solid"/>
          </a:ln>
          <a:effectLst>
            <a:outerShdw sx="100000" sy="100000" blurRad="50800" dist="38100" dir="2700000" rotWithShape="0" algn="tl">
              <a:srgbClr val="000000">
                <a:alpha val="40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just" latinLnBrk="0">
              <a:buFontTx/>
              <a:buNone/>
            </a:pPr>
            <a:r>
              <a:rPr sz="2400" i="0" b="0">
                <a:solidFill>
                  <a:schemeClr val="tx1"/>
                </a:solidFill>
                <a:latin typeface="Helvetica Neue" charset="0"/>
                <a:ea typeface="Söhne" charset="0"/>
              </a:rPr>
              <a:t>In</a:t>
            </a:r>
            <a:r>
              <a:rPr sz="2400" i="0" b="0">
                <a:solidFill>
                  <a:schemeClr val="tx1"/>
                </a:solidFill>
                <a:latin typeface="Helvetica Neue" charset="0"/>
                <a:ea typeface="Söhne" charset="0"/>
              </a:rPr>
              <a:t> the dynamic landscape of today's digital age, a </a:t>
            </a:r>
            <a:r>
              <a:rPr sz="2400" i="0" b="0">
                <a:solidFill>
                  <a:schemeClr val="tx1"/>
                </a:solidFill>
                <a:latin typeface="Helvetica Neue" charset="0"/>
                <a:ea typeface="Söhne" charset="0"/>
              </a:rPr>
              <a:t>personal</a:t>
            </a:r>
            <a:r>
              <a:rPr sz="2400" i="0" b="0">
                <a:solidFill>
                  <a:schemeClr val="tx1"/>
                </a:solidFill>
                <a:latin typeface="Helvetica Neue" charset="0"/>
                <a:ea typeface="Söhne" charset="0"/>
              </a:rPr>
              <a:t> portfolio serves as a powerful tool to showcase </a:t>
            </a:r>
            <a:r>
              <a:rPr sz="2400" i="0" b="0">
                <a:solidFill>
                  <a:schemeClr val="tx1"/>
                </a:solidFill>
                <a:latin typeface="Helvetica Neue" charset="0"/>
                <a:ea typeface="Söhne" charset="0"/>
              </a:rPr>
              <a:t>your</a:t>
            </a:r>
            <a:r>
              <a:rPr sz="2400" i="0" b="0">
                <a:solidFill>
                  <a:schemeClr val="tx1"/>
                </a:solidFill>
                <a:latin typeface="Helvetica Neue" charset="0"/>
                <a:ea typeface="Söhne" charset="0"/>
              </a:rPr>
              <a:t> </a:t>
            </a:r>
            <a:r>
              <a:rPr sz="2400" i="0" b="0">
                <a:solidFill>
                  <a:schemeClr val="tx1"/>
                </a:solidFill>
                <a:latin typeface="Helvetica Neue" charset="0"/>
                <a:ea typeface="Söhne" charset="0"/>
              </a:rPr>
              <a:t>skills,</a:t>
            </a:r>
            <a:r>
              <a:rPr sz="2400" i="0" b="0">
                <a:solidFill>
                  <a:schemeClr val="tx1"/>
                </a:solidFill>
                <a:latin typeface="Helvetica Neue" charset="0"/>
                <a:ea typeface="Söhne" charset="0"/>
              </a:rPr>
              <a:t> projects, and accomplishments. Whether you </a:t>
            </a:r>
            <a:r>
              <a:rPr sz="2400" i="0" b="0">
                <a:solidFill>
                  <a:schemeClr val="tx1"/>
                </a:solidFill>
                <a:latin typeface="Helvetica Neue" charset="0"/>
                <a:ea typeface="Söhne" charset="0"/>
              </a:rPr>
              <a:t>are</a:t>
            </a:r>
            <a:r>
              <a:rPr sz="2400" i="0" b="0">
                <a:solidFill>
                  <a:schemeClr val="tx1"/>
                </a:solidFill>
                <a:latin typeface="Helvetica Neue" charset="0"/>
                <a:ea typeface="Söhne" charset="0"/>
              </a:rPr>
              <a:t> a developer, designer, or a professional in any field, </a:t>
            </a:r>
            <a:r>
              <a:rPr sz="2400" i="0" b="0">
                <a:solidFill>
                  <a:schemeClr val="tx1"/>
                </a:solidFill>
                <a:latin typeface="Helvetica Neue" charset="0"/>
                <a:ea typeface="Söhne" charset="0"/>
              </a:rPr>
              <a:t>having</a:t>
            </a:r>
            <a:r>
              <a:rPr sz="2400" i="0" b="0">
                <a:solidFill>
                  <a:schemeClr val="tx1"/>
                </a:solidFill>
                <a:latin typeface="Helvetica Neue" charset="0"/>
                <a:ea typeface="Söhne" charset="0"/>
              </a:rPr>
              <a:t> an online presence is crucial for establishing your </a:t>
            </a:r>
            <a:r>
              <a:rPr sz="2400" i="0" b="0">
                <a:solidFill>
                  <a:schemeClr val="tx1"/>
                </a:solidFill>
                <a:latin typeface="Helvetica Neue" charset="0"/>
                <a:ea typeface="Söhne" charset="0"/>
              </a:rPr>
              <a:t>identity</a:t>
            </a:r>
            <a:r>
              <a:rPr sz="2400" i="0" b="0">
                <a:solidFill>
                  <a:schemeClr val="tx1"/>
                </a:solidFill>
                <a:latin typeface="Helvetica Neue" charset="0"/>
                <a:ea typeface="Söhne" charset="0"/>
              </a:rPr>
              <a:t> and making a lasting impression.</a:t>
            </a:r>
            <a:endParaRPr lang="ko-KR" altLang="en-US" sz="2400" b="1">
              <a:solidFill>
                <a:schemeClr val="tx1"/>
              </a:solidFill>
              <a:latin typeface="Times New Roman" charset="0"/>
              <a:cs typeface="Times New Roman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 advTm="4000">
        <p:cut/>
      </p:transition>
    </mc:Choice>
    <mc:Fallback>
      <p:transition spd="slow" advTm="4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215" y="116840"/>
            <a:ext cx="540067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  <a:cs typeface="Times New Roman" pitchFamily="18" charset="0"/>
              </a:rPr>
              <a:t>Problem Statement: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: Rounded Corners 3"/>
          <p:cNvSpPr>
            <a:spLocks/>
          </p:cNvSpPr>
          <p:nvPr/>
        </p:nvSpPr>
        <p:spPr>
          <a:xfrm rot="0">
            <a:off x="397510" y="2596515"/>
            <a:ext cx="8209280" cy="3914140"/>
          </a:xfrm>
          <a:prstGeom prst="roundRect"/>
          <a:ln w="19050" cap="flat" cmpd="sng">
            <a:prstDash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l"/>
            <a:r>
              <a:rPr sz="2600" i="0" b="0">
                <a:latin typeface="Helvetica Neue" charset="0"/>
                <a:ea typeface="Söhne" charset="0"/>
              </a:rPr>
              <a:t>The</a:t>
            </a:r>
            <a:r>
              <a:rPr sz="2600" i="0" b="0">
                <a:latin typeface="Helvetica Neue" charset="0"/>
                <a:ea typeface="Söhne" charset="0"/>
              </a:rPr>
              <a:t> primary challenge lies in crafting a portfolio </a:t>
            </a:r>
            <a:r>
              <a:rPr sz="2600" i="0" b="0">
                <a:latin typeface="Helvetica Neue" charset="0"/>
                <a:ea typeface="Söhne" charset="0"/>
              </a:rPr>
              <a:t>that</a:t>
            </a:r>
            <a:r>
              <a:rPr sz="2600" i="0" b="0">
                <a:latin typeface="Helvetica Neue" charset="0"/>
                <a:ea typeface="Söhne" charset="0"/>
              </a:rPr>
              <a:t> </a:t>
            </a:r>
            <a:r>
              <a:rPr sz="2600" i="0" b="0">
                <a:latin typeface="Helvetica Neue" charset="0"/>
                <a:ea typeface="Söhne" charset="0"/>
              </a:rPr>
              <a:t>not</a:t>
            </a:r>
            <a:r>
              <a:rPr sz="2600" i="0" b="0">
                <a:latin typeface="Helvetica Neue" charset="0"/>
                <a:ea typeface="Söhne" charset="0"/>
              </a:rPr>
              <a:t> only </a:t>
            </a:r>
            <a:r>
              <a:rPr sz="2600" i="0" b="0">
                <a:latin typeface="Helvetica Neue" charset="0"/>
                <a:ea typeface="Söhne" charset="0"/>
              </a:rPr>
              <a:t>encapsulates</a:t>
            </a:r>
            <a:r>
              <a:rPr sz="2600" i="0" b="0">
                <a:latin typeface="Helvetica Neue" charset="0"/>
                <a:ea typeface="Söhne" charset="0"/>
              </a:rPr>
              <a:t> the individual's expertise </a:t>
            </a:r>
            <a:r>
              <a:rPr sz="2600" i="0" b="0">
                <a:latin typeface="Helvetica Neue" charset="0"/>
                <a:ea typeface="Söhne" charset="0"/>
              </a:rPr>
              <a:t>but</a:t>
            </a:r>
            <a:r>
              <a:rPr sz="2600" i="0" b="0">
                <a:latin typeface="Helvetica Neue" charset="0"/>
                <a:ea typeface="Söhne" charset="0"/>
              </a:rPr>
              <a:t> </a:t>
            </a:r>
            <a:r>
              <a:rPr sz="2600" i="0" b="0">
                <a:latin typeface="Helvetica Neue" charset="0"/>
                <a:ea typeface="Söhne" charset="0"/>
              </a:rPr>
              <a:t>also</a:t>
            </a:r>
            <a:r>
              <a:rPr sz="2600" i="0" b="0">
                <a:latin typeface="Helvetica Neue" charset="0"/>
                <a:ea typeface="Söhne" charset="0"/>
              </a:rPr>
              <a:t> </a:t>
            </a:r>
            <a:r>
              <a:rPr sz="2600" i="0" b="0">
                <a:latin typeface="Helvetica Neue" charset="0"/>
                <a:ea typeface="Söhne" charset="0"/>
              </a:rPr>
              <a:t>ensures</a:t>
            </a:r>
            <a:r>
              <a:rPr sz="2600" i="0" b="0">
                <a:latin typeface="Helvetica Neue" charset="0"/>
                <a:ea typeface="Söhne" charset="0"/>
              </a:rPr>
              <a:t> an </a:t>
            </a:r>
            <a:r>
              <a:rPr sz="2600" i="0" b="0">
                <a:latin typeface="Helvetica Neue" charset="0"/>
                <a:ea typeface="Söhne" charset="0"/>
              </a:rPr>
              <a:t>optimal</a:t>
            </a:r>
            <a:r>
              <a:rPr sz="2600" i="0" b="0">
                <a:latin typeface="Helvetica Neue" charset="0"/>
                <a:ea typeface="Söhne" charset="0"/>
              </a:rPr>
              <a:t> </a:t>
            </a:r>
            <a:r>
              <a:rPr sz="2600" i="0" b="0">
                <a:latin typeface="Helvetica Neue" charset="0"/>
                <a:ea typeface="Söhne" charset="0"/>
              </a:rPr>
              <a:t>user</a:t>
            </a:r>
            <a:r>
              <a:rPr sz="2600" i="0" b="0">
                <a:latin typeface="Helvetica Neue" charset="0"/>
                <a:ea typeface="Söhne" charset="0"/>
              </a:rPr>
              <a:t> experience across </a:t>
            </a:r>
            <a:r>
              <a:rPr sz="2600" i="0" b="0">
                <a:latin typeface="Helvetica Neue" charset="0"/>
                <a:ea typeface="Söhne" charset="0"/>
              </a:rPr>
              <a:t>desktops,</a:t>
            </a:r>
            <a:r>
              <a:rPr sz="2600" i="0" b="0">
                <a:latin typeface="Helvetica Neue" charset="0"/>
                <a:ea typeface="Söhne" charset="0"/>
              </a:rPr>
              <a:t> tablets, and mobile </a:t>
            </a:r>
            <a:r>
              <a:rPr sz="2600" i="0" b="0">
                <a:latin typeface="Helvetica Neue" charset="0"/>
                <a:ea typeface="Söhne" charset="0"/>
              </a:rPr>
              <a:t>devices.</a:t>
            </a:r>
            <a:r>
              <a:rPr sz="2600" i="0" b="0">
                <a:latin typeface="Helvetica Neue" charset="0"/>
                <a:ea typeface="Söhne" charset="0"/>
              </a:rPr>
              <a:t> </a:t>
            </a:r>
            <a:r>
              <a:rPr sz="2600" i="0" b="0">
                <a:latin typeface="Helvetica Neue" charset="0"/>
                <a:ea typeface="Söhne" charset="0"/>
              </a:rPr>
              <a:t>Traditional</a:t>
            </a:r>
            <a:r>
              <a:rPr sz="2600" i="0" b="0">
                <a:latin typeface="Helvetica Neue" charset="0"/>
                <a:ea typeface="Söhne" charset="0"/>
              </a:rPr>
              <a:t> </a:t>
            </a:r>
            <a:r>
              <a:rPr sz="2600" i="0" b="0">
                <a:latin typeface="Helvetica Neue" charset="0"/>
                <a:ea typeface="Söhne" charset="0"/>
              </a:rPr>
              <a:t>static</a:t>
            </a:r>
            <a:r>
              <a:rPr sz="2600" i="0" b="0">
                <a:latin typeface="Helvetica Neue" charset="0"/>
                <a:ea typeface="Söhne" charset="0"/>
              </a:rPr>
              <a:t> portfolios </a:t>
            </a:r>
            <a:r>
              <a:rPr sz="2600" i="0" b="0">
                <a:latin typeface="Helvetica Neue" charset="0"/>
                <a:ea typeface="Söhne" charset="0"/>
              </a:rPr>
              <a:t>often</a:t>
            </a:r>
            <a:r>
              <a:rPr sz="2600" i="0" b="0">
                <a:latin typeface="Helvetica Neue" charset="0"/>
                <a:ea typeface="Söhne" charset="0"/>
              </a:rPr>
              <a:t> fall short in meeting </a:t>
            </a:r>
            <a:r>
              <a:rPr sz="2600" i="0" b="0">
                <a:latin typeface="Helvetica Neue" charset="0"/>
                <a:ea typeface="Söhne" charset="0"/>
              </a:rPr>
              <a:t>these</a:t>
            </a:r>
            <a:r>
              <a:rPr sz="2600" i="0" b="0">
                <a:latin typeface="Helvetica Neue" charset="0"/>
                <a:ea typeface="Söhne" charset="0"/>
              </a:rPr>
              <a:t> </a:t>
            </a:r>
            <a:r>
              <a:rPr sz="2600" i="0" b="0">
                <a:latin typeface="Helvetica Neue" charset="0"/>
                <a:ea typeface="Söhne" charset="0"/>
              </a:rPr>
              <a:t>requirements,</a:t>
            </a:r>
            <a:r>
              <a:rPr sz="2600" i="0" b="0">
                <a:latin typeface="Helvetica Neue" charset="0"/>
                <a:ea typeface="Söhne" charset="0"/>
              </a:rPr>
              <a:t> leading to a potential disconnect </a:t>
            </a:r>
            <a:r>
              <a:rPr sz="2600" i="0" b="0">
                <a:latin typeface="Helvetica Neue" charset="0"/>
                <a:ea typeface="Söhne" charset="0"/>
              </a:rPr>
              <a:t>between</a:t>
            </a:r>
            <a:r>
              <a:rPr sz="2600" i="0" b="0">
                <a:latin typeface="Helvetica Neue" charset="0"/>
                <a:ea typeface="Söhne" charset="0"/>
              </a:rPr>
              <a:t> the </a:t>
            </a:r>
            <a:r>
              <a:rPr sz="2600" i="0" b="0">
                <a:latin typeface="Helvetica Neue" charset="0"/>
                <a:ea typeface="Söhne" charset="0"/>
              </a:rPr>
              <a:t>portfolio</a:t>
            </a:r>
            <a:r>
              <a:rPr sz="2600" i="0" b="0">
                <a:latin typeface="Helvetica Neue" charset="0"/>
                <a:ea typeface="Söhne" charset="0"/>
              </a:rPr>
              <a:t> owner and </a:t>
            </a:r>
            <a:r>
              <a:rPr sz="2600" i="0" b="0">
                <a:latin typeface="Helvetica Neue" charset="0"/>
                <a:ea typeface="Söhne" charset="0"/>
              </a:rPr>
              <a:t>their</a:t>
            </a:r>
            <a:r>
              <a:rPr sz="2600" i="0" b="0">
                <a:latin typeface="Helvetica Neue" charset="0"/>
                <a:ea typeface="Söhne" charset="0"/>
              </a:rPr>
              <a:t> audience.</a:t>
            </a:r>
            <a:endParaRPr lang="ko-KR" altLang="en-US" sz="2600" i="0" b="0">
              <a:latin typeface="Helvetica Neue" charset="0"/>
              <a:ea typeface="Söhne" charset="0"/>
            </a:endParaRPr>
          </a:p>
          <a:p>
            <a:pPr marL="0" indent="0"/>
            <a:r>
              <a:rPr sz="1800">
                <a:latin typeface="Calibri" charset="0"/>
                <a:ea typeface="Calibri" charset="0"/>
                <a:cs typeface="+mn-cs"/>
              </a:rPr>
              <a:t/>
            </a:r>
            <a:br>
              <a:rPr sz="1800">
                <a:latin typeface="Calibri" charset="0"/>
                <a:ea typeface="Calibri" charset="0"/>
                <a:cs typeface="+mn-cs"/>
              </a:rPr>
            </a:br>
            <a:endParaRPr lang="ko-KR" altLang="en-US" sz="2400" b="1">
              <a:solidFill>
                <a:schemeClr val="tx1"/>
              </a:solidFill>
              <a:latin typeface="Time new roman" charset="0"/>
              <a:cs typeface="Times New Roman" charset="0"/>
            </a:endParaRPr>
          </a:p>
          <a:p>
            <a:pPr marL="0" indent="0" algn="just" latinLnBrk="0">
              <a:buFontTx/>
              <a:buNone/>
            </a:pPr>
            <a:endParaRPr lang="ko-KR" altLang="en-US" sz="2400">
              <a:latin typeface="Times New Roman" charset="0"/>
              <a:cs typeface="Times New Roman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1EB3D-5212-EC90-D511-C2BCFD32A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59447">
            <a:off x="5276850" y="1096010"/>
            <a:ext cx="3674110" cy="1640205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 advTm="4000">
        <p:cut/>
      </p:transition>
    </mc:Choice>
    <mc:Fallback>
      <p:transition spd="slow" advTm="4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44624"/>
            <a:ext cx="540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  <a:cs typeface="Times New Roman" pitchFamily="18" charset="0"/>
              </a:rPr>
              <a:t>Technical Details: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208912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effectLst/>
                <a:latin typeface="Footlight MT Light" panose="0204060206030A020304" pitchFamily="18" charset="0"/>
                <a:ea typeface="Times New Roman" panose="02020603050405020304" pitchFamily="18" charset="0"/>
              </a:rPr>
              <a:t>Portfolio site</a:t>
            </a:r>
            <a:r>
              <a:rPr lang="en-IN" sz="1800" dirty="0">
                <a:solidFill>
                  <a:srgbClr val="000000"/>
                </a:solidFill>
                <a:effectLst/>
                <a:latin typeface="Footlight MT Light" panose="0204060206030A020304" pitchFamily="18" charset="0"/>
                <a:ea typeface="Times New Roman" panose="02020603050405020304" pitchFamily="18" charset="0"/>
              </a:rPr>
              <a:t> is implemented using the following steps:</a:t>
            </a:r>
            <a:endParaRPr lang="en-US" sz="1800" dirty="0">
              <a:effectLst/>
              <a:latin typeface="Footlight MT Light" panose="0204060206030A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effectLst/>
                <a:latin typeface="Footlight MT Light" panose="0204060206030A020304" pitchFamily="18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Footlight MT Light" panose="0204060206030A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effectLst/>
                <a:latin typeface="Footlight MT Light" panose="0204060206030A020304" pitchFamily="18" charset="0"/>
                <a:ea typeface="Times New Roman" panose="02020603050405020304" pitchFamily="18" charset="0"/>
              </a:rPr>
              <a:t>Step 1: </a:t>
            </a:r>
            <a:r>
              <a:rPr lang="en-IN" sz="1800" b="1" dirty="0">
                <a:effectLst/>
                <a:latin typeface="Footlight MT Light" panose="0204060206030A020304" pitchFamily="18" charset="0"/>
                <a:ea typeface="Times New Roman" panose="02020603050405020304" pitchFamily="18" charset="0"/>
              </a:rPr>
              <a:t>Creating the HTML structure</a:t>
            </a:r>
            <a:r>
              <a:rPr lang="en-IN" sz="1800" dirty="0">
                <a:effectLst/>
                <a:latin typeface="Footlight MT Light" panose="0204060206030A020304" pitchFamily="18" charset="0"/>
                <a:ea typeface="Times New Roman" panose="02020603050405020304" pitchFamily="18" charset="0"/>
              </a:rPr>
              <a:t>. The HTML code includes a form with various input fields for the username, email , a submit button etc. And a other file also includes a code for a portfolio. </a:t>
            </a:r>
            <a:endParaRPr lang="en-US" sz="1800" dirty="0">
              <a:effectLst/>
              <a:latin typeface="Footlight MT Light" panose="0204060206030A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effectLst/>
                <a:latin typeface="Footlight MT Light" panose="0204060206030A020304" pitchFamily="18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Footlight MT Light" panose="0204060206030A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effectLst/>
                <a:latin typeface="Footlight MT Light" panose="0204060206030A020304" pitchFamily="18" charset="0"/>
                <a:ea typeface="Times New Roman" panose="02020603050405020304" pitchFamily="18" charset="0"/>
              </a:rPr>
              <a:t>Step 2: </a:t>
            </a:r>
            <a:r>
              <a:rPr lang="en-IN" sz="1800" b="1" dirty="0">
                <a:effectLst/>
                <a:latin typeface="Footlight MT Light" panose="0204060206030A020304" pitchFamily="18" charset="0"/>
                <a:ea typeface="Times New Roman" panose="02020603050405020304" pitchFamily="18" charset="0"/>
              </a:rPr>
              <a:t>Styling the page with CSS. </a:t>
            </a:r>
            <a:r>
              <a:rPr lang="en-IN" sz="1800" dirty="0">
                <a:effectLst/>
                <a:latin typeface="Footlight MT Light" panose="0204060206030A020304" pitchFamily="18" charset="0"/>
                <a:ea typeface="Times New Roman" panose="02020603050405020304" pitchFamily="18" charset="0"/>
              </a:rPr>
              <a:t>The CSS code is used to style the form, including the input fields, submit button, and div container. And used for styling the portfolio.</a:t>
            </a:r>
            <a:endParaRPr lang="en-US" sz="1800" dirty="0">
              <a:effectLst/>
              <a:latin typeface="Footlight MT Light" panose="0204060206030A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effectLst/>
                <a:latin typeface="Footlight MT Light" panose="0204060206030A020304" pitchFamily="18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Footlight MT Light" panose="0204060206030A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advTm="4000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560" y="116840"/>
            <a:ext cx="540067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  <a:cs typeface="Times New Roman" pitchFamily="18" charset="0"/>
              </a:rPr>
              <a:t>Key Features: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5605" y="1196975"/>
            <a:ext cx="8569325" cy="5906135"/>
          </a:xfrm>
          <a:prstGeom prst="rect">
            <a:avLst/>
          </a:prstGeom>
        </p:spPr>
        <p:txBody>
          <a:bodyPr wrap="square" lIns="91440" tIns="45720" rIns="91440" bIns="45720" numCol="1" vert="horz" anchor="t">
            <a:spAutoFit/>
          </a:bodyPr>
          <a:lstStyle/>
          <a:p>
            <a:pPr marL="457200" indent="-457200" latinLnBrk="0">
              <a:buFontTx/>
              <a:buNone/>
            </a:pPr>
            <a:r>
              <a:rPr sz="1800" i="0" b="0">
                <a:latin typeface="Helvetica Neue" charset="0"/>
                <a:ea typeface="Söhne" charset="0"/>
              </a:rPr>
              <a:t>1.</a:t>
            </a:r>
            <a:r>
              <a:rPr sz="1800" i="0" b="0">
                <a:latin typeface="Helvetica Neue" charset="0"/>
                <a:ea typeface="Söhne" charset="0"/>
              </a:rPr>
              <a:t> Responsive Design: In today's mobile-centric </a:t>
            </a:r>
            <a:r>
              <a:rPr sz="1800" i="0" b="0">
                <a:latin typeface="Helvetica Neue" charset="0"/>
                <a:ea typeface="Söhne" charset="0"/>
              </a:rPr>
              <a:t>world,</a:t>
            </a:r>
            <a:r>
              <a:rPr sz="1800" i="0" b="0">
                <a:latin typeface="Helvetica Neue" charset="0"/>
                <a:ea typeface="Söhne" charset="0"/>
              </a:rPr>
              <a:t> a responsive design is </a:t>
            </a:r>
            <a:r>
              <a:rPr sz="1800" i="0" b="0">
                <a:latin typeface="Helvetica Neue" charset="0"/>
                <a:ea typeface="Söhne" charset="0"/>
              </a:rPr>
              <a:t>imperative.</a:t>
            </a:r>
            <a:r>
              <a:rPr sz="1800" i="0" b="0">
                <a:latin typeface="Helvetica Neue" charset="0"/>
                <a:ea typeface="Söhne" charset="0"/>
              </a:rPr>
              <a:t> Learn how </a:t>
            </a:r>
            <a:r>
              <a:rPr sz="1800" i="0" b="0">
                <a:latin typeface="Helvetica Neue" charset="0"/>
                <a:ea typeface="Söhne" charset="0"/>
              </a:rPr>
              <a:t>to</a:t>
            </a:r>
            <a:r>
              <a:rPr sz="1800" i="0" b="0">
                <a:latin typeface="Helvetica Neue" charset="0"/>
                <a:ea typeface="Söhne" charset="0"/>
              </a:rPr>
              <a:t> use Python </a:t>
            </a:r>
            <a:r>
              <a:rPr sz="1800" i="0" b="0">
                <a:latin typeface="Helvetica Neue" charset="0"/>
                <a:ea typeface="Söhne" charset="0"/>
              </a:rPr>
              <a:t>and</a:t>
            </a:r>
            <a:r>
              <a:rPr sz="1800" i="0" b="0">
                <a:latin typeface="Helvetica Neue" charset="0"/>
                <a:ea typeface="Söhne" charset="0"/>
              </a:rPr>
              <a:t> its web frameworks to create a </a:t>
            </a:r>
            <a:r>
              <a:rPr sz="1800" i="0" b="0">
                <a:latin typeface="Helvetica Neue" charset="0"/>
                <a:ea typeface="Söhne" charset="0"/>
              </a:rPr>
              <a:t>portfolio</a:t>
            </a:r>
            <a:r>
              <a:rPr sz="1800" i="0" b="0">
                <a:latin typeface="Helvetica Neue" charset="0"/>
                <a:ea typeface="Söhne" charset="0"/>
              </a:rPr>
              <a:t> that </a:t>
            </a:r>
            <a:r>
              <a:rPr sz="1800" i="0" b="0">
                <a:latin typeface="Helvetica Neue" charset="0"/>
                <a:ea typeface="Söhne" charset="0"/>
              </a:rPr>
              <a:t>looks</a:t>
            </a:r>
            <a:r>
              <a:rPr sz="1800" i="0" b="0">
                <a:latin typeface="Helvetica Neue" charset="0"/>
                <a:ea typeface="Söhne" charset="0"/>
              </a:rPr>
              <a:t> great on any device, be it a </a:t>
            </a:r>
            <a:r>
              <a:rPr sz="1800" i="0" b="0">
                <a:latin typeface="Helvetica Neue" charset="0"/>
                <a:ea typeface="Söhne" charset="0"/>
              </a:rPr>
              <a:t>desktop,</a:t>
            </a:r>
            <a:r>
              <a:rPr sz="1800" i="0" b="0">
                <a:latin typeface="Helvetica Neue" charset="0"/>
                <a:ea typeface="Söhne" charset="0"/>
              </a:rPr>
              <a:t> tablet, or </a:t>
            </a:r>
            <a:r>
              <a:rPr sz="1800" i="0" b="0">
                <a:latin typeface="Helvetica Neue" charset="0"/>
                <a:ea typeface="Söhne" charset="0"/>
              </a:rPr>
              <a:t>smartphone.</a:t>
            </a:r>
            <a:endParaRPr lang="ko-KR" altLang="en-US" sz="1800" i="0" b="0">
              <a:latin typeface="Helvetica Neue" charset="0"/>
              <a:ea typeface="Söhne" charset="0"/>
            </a:endParaRPr>
          </a:p>
          <a:p>
            <a:pPr marL="457200" indent="-457200" latinLnBrk="0">
              <a:buFontTx/>
              <a:buNone/>
            </a:pPr>
            <a:endParaRPr lang="ko-KR" altLang="en-US" sz="1800" i="0" b="0">
              <a:latin typeface="Helvetica Neue" charset="0"/>
              <a:ea typeface="Söhne" charset="0"/>
            </a:endParaRPr>
          </a:p>
          <a:p>
            <a:pPr marL="0" indent="0" algn="l"/>
            <a:r>
              <a:rPr sz="1800" i="0" b="0">
                <a:latin typeface="Helvetica Neue" charset="0"/>
                <a:ea typeface="Söhne" charset="0"/>
              </a:rPr>
              <a:t>2.</a:t>
            </a:r>
            <a:r>
              <a:rPr sz="1800" i="0" b="0">
                <a:latin typeface="Helvetica Neue" charset="0"/>
                <a:ea typeface="Söhne" charset="0"/>
              </a:rPr>
              <a:t> Dynamic Content: With Python's backend capabilities, </a:t>
            </a:r>
            <a:r>
              <a:rPr sz="1800" i="0" b="0">
                <a:latin typeface="Helvetica Neue" charset="0"/>
                <a:ea typeface="Söhne" charset="0"/>
              </a:rPr>
              <a:t>we'll</a:t>
            </a:r>
            <a:r>
              <a:rPr sz="1800" i="0" b="0">
                <a:latin typeface="Helvetica Neue" charset="0"/>
                <a:ea typeface="Söhne" charset="0"/>
              </a:rPr>
              <a:t> explore how to </a:t>
            </a:r>
            <a:r>
              <a:rPr sz="1800" i="0" b="0">
                <a:latin typeface="Helvetica Neue" charset="0"/>
                <a:ea typeface="Söhne" charset="0"/>
              </a:rPr>
              <a:t>dynamically</a:t>
            </a:r>
            <a:r>
              <a:rPr sz="1800" i="0" b="0">
                <a:latin typeface="Helvetica Neue" charset="0"/>
                <a:ea typeface="Söhne" charset="0"/>
              </a:rPr>
              <a:t> </a:t>
            </a:r>
            <a:r>
              <a:rPr sz="1800" i="0" b="0">
                <a:latin typeface="Helvetica Neue" charset="0"/>
                <a:ea typeface="Söhne" charset="0"/>
              </a:rPr>
              <a:t>update</a:t>
            </a:r>
            <a:r>
              <a:rPr sz="1800" i="0" b="0">
                <a:latin typeface="Helvetica Neue" charset="0"/>
                <a:ea typeface="Söhne" charset="0"/>
              </a:rPr>
              <a:t> your portfolio </a:t>
            </a:r>
            <a:r>
              <a:rPr sz="1800" i="0" b="0">
                <a:latin typeface="Helvetica Neue" charset="0"/>
                <a:ea typeface="Söhne" charset="0"/>
              </a:rPr>
              <a:t>with</a:t>
            </a:r>
            <a:r>
              <a:rPr sz="1800" i="0" b="0">
                <a:latin typeface="Helvetica Neue" charset="0"/>
                <a:ea typeface="Söhne" charset="0"/>
              </a:rPr>
              <a:t> new </a:t>
            </a:r>
            <a:r>
              <a:rPr sz="1800" i="0" b="0">
                <a:latin typeface="Helvetica Neue" charset="0"/>
                <a:ea typeface="Söhne" charset="0"/>
              </a:rPr>
              <a:t>projects,</a:t>
            </a:r>
            <a:r>
              <a:rPr sz="1800" i="0" b="0">
                <a:latin typeface="Helvetica Neue" charset="0"/>
                <a:ea typeface="Söhne" charset="0"/>
              </a:rPr>
              <a:t> skills, or achievements </a:t>
            </a:r>
            <a:r>
              <a:rPr sz="1800" i="0" b="0">
                <a:latin typeface="Helvetica Neue" charset="0"/>
                <a:ea typeface="Söhne" charset="0"/>
              </a:rPr>
              <a:t>without</a:t>
            </a:r>
            <a:r>
              <a:rPr sz="1800" i="0" b="0">
                <a:latin typeface="Helvetica Neue" charset="0"/>
                <a:ea typeface="Söhne" charset="0"/>
              </a:rPr>
              <a:t> </a:t>
            </a:r>
            <a:r>
              <a:rPr sz="1800" i="0" b="0">
                <a:latin typeface="Helvetica Neue" charset="0"/>
                <a:ea typeface="Söhne" charset="0"/>
              </a:rPr>
              <a:t>manually</a:t>
            </a:r>
            <a:r>
              <a:rPr sz="1800" i="0" b="0">
                <a:latin typeface="Helvetica Neue" charset="0"/>
                <a:ea typeface="Söhne" charset="0"/>
              </a:rPr>
              <a:t> editing the </a:t>
            </a:r>
            <a:r>
              <a:rPr sz="1800" i="0" b="0">
                <a:latin typeface="Helvetica Neue" charset="0"/>
                <a:ea typeface="Söhne" charset="0"/>
              </a:rPr>
              <a:t>HTML</a:t>
            </a:r>
            <a:r>
              <a:rPr sz="1800" i="0" b="0">
                <a:latin typeface="Helvetica Neue" charset="0"/>
                <a:ea typeface="Söhne" charset="0"/>
              </a:rPr>
              <a:t> files. This ensures that your </a:t>
            </a:r>
            <a:r>
              <a:rPr sz="1800" i="0" b="0">
                <a:latin typeface="Helvetica Neue" charset="0"/>
                <a:ea typeface="Söhne" charset="0"/>
              </a:rPr>
              <a:t>portfolio</a:t>
            </a:r>
            <a:r>
              <a:rPr sz="1800" i="0" b="0">
                <a:latin typeface="Helvetica Neue" charset="0"/>
                <a:ea typeface="Söhne" charset="0"/>
              </a:rPr>
              <a:t> is always </a:t>
            </a:r>
            <a:r>
              <a:rPr sz="1800" i="0" b="0">
                <a:latin typeface="Helvetica Neue" charset="0"/>
                <a:ea typeface="Söhne" charset="0"/>
              </a:rPr>
              <a:t>up-to-date</a:t>
            </a:r>
            <a:r>
              <a:rPr sz="1800" i="0" b="0">
                <a:latin typeface="Helvetica Neue" charset="0"/>
                <a:ea typeface="Söhne" charset="0"/>
              </a:rPr>
              <a:t> with your latest work.</a:t>
            </a:r>
            <a:endParaRPr lang="ko-KR" altLang="en-US" sz="1800" i="0" b="0">
              <a:latin typeface="Helvetica Neue" charset="0"/>
              <a:ea typeface="Söhne" charset="0"/>
            </a:endParaRPr>
          </a:p>
          <a:p>
            <a:pPr marL="0" indent="0" algn="l"/>
            <a:endParaRPr lang="ko-KR" altLang="en-US" sz="1800" i="0" b="0">
              <a:latin typeface="Helvetica Neue" charset="0"/>
              <a:ea typeface="Söhne" charset="0"/>
            </a:endParaRPr>
          </a:p>
          <a:p>
            <a:pPr marL="0" indent="0" algn="l"/>
            <a:r>
              <a:rPr sz="1800" i="0" b="0">
                <a:latin typeface="Helvetica Neue" charset="0"/>
                <a:ea typeface="Söhne" charset="0"/>
              </a:rPr>
              <a:t>3.</a:t>
            </a:r>
            <a:r>
              <a:rPr sz="1800" i="0" b="0">
                <a:latin typeface="Helvetica Neue" charset="0"/>
                <a:ea typeface="Söhne" charset="0"/>
              </a:rPr>
              <a:t> Database Integration: Dive into the world of </a:t>
            </a:r>
            <a:r>
              <a:rPr sz="1800" i="0" b="0">
                <a:latin typeface="Helvetica Neue" charset="0"/>
                <a:ea typeface="Söhne" charset="0"/>
              </a:rPr>
              <a:t>databases</a:t>
            </a:r>
            <a:r>
              <a:rPr sz="1800" i="0" b="0">
                <a:latin typeface="Helvetica Neue" charset="0"/>
                <a:ea typeface="Söhne" charset="0"/>
              </a:rPr>
              <a:t> with Python and learn </a:t>
            </a:r>
            <a:r>
              <a:rPr sz="1800" i="0" b="0">
                <a:latin typeface="Helvetica Neue" charset="0"/>
                <a:ea typeface="Söhne" charset="0"/>
              </a:rPr>
              <a:t>how</a:t>
            </a:r>
            <a:r>
              <a:rPr sz="1800" i="0" b="0">
                <a:latin typeface="Helvetica Neue" charset="0"/>
                <a:ea typeface="Söhne" charset="0"/>
              </a:rPr>
              <a:t> to </a:t>
            </a:r>
            <a:r>
              <a:rPr sz="1800" i="0" b="0">
                <a:latin typeface="Helvetica Neue" charset="0"/>
                <a:ea typeface="Söhne" charset="0"/>
              </a:rPr>
              <a:t>integrate</a:t>
            </a:r>
            <a:r>
              <a:rPr sz="1800" i="0" b="0">
                <a:latin typeface="Helvetica Neue" charset="0"/>
                <a:ea typeface="Söhne" charset="0"/>
              </a:rPr>
              <a:t> one </a:t>
            </a:r>
            <a:r>
              <a:rPr sz="1800" i="0" b="0">
                <a:latin typeface="Helvetica Neue" charset="0"/>
                <a:ea typeface="Söhne" charset="0"/>
              </a:rPr>
              <a:t>into</a:t>
            </a:r>
            <a:r>
              <a:rPr sz="1800" i="0" b="0">
                <a:latin typeface="Helvetica Neue" charset="0"/>
                <a:ea typeface="Söhne" charset="0"/>
              </a:rPr>
              <a:t> your portfolio. </a:t>
            </a:r>
            <a:r>
              <a:rPr sz="1800" i="0" b="0">
                <a:latin typeface="Helvetica Neue" charset="0"/>
                <a:ea typeface="Söhne" charset="0"/>
              </a:rPr>
              <a:t>This</a:t>
            </a:r>
            <a:r>
              <a:rPr sz="1800" i="0" b="0">
                <a:latin typeface="Helvetica Neue" charset="0"/>
                <a:ea typeface="Söhne" charset="0"/>
              </a:rPr>
              <a:t> enables efficient data </a:t>
            </a:r>
            <a:r>
              <a:rPr sz="1800" i="0" b="0">
                <a:latin typeface="Helvetica Neue" charset="0"/>
                <a:ea typeface="Söhne" charset="0"/>
              </a:rPr>
              <a:t>management,</a:t>
            </a:r>
            <a:r>
              <a:rPr sz="1800" i="0" b="0">
                <a:latin typeface="Helvetica Neue" charset="0"/>
                <a:ea typeface="Söhne" charset="0"/>
              </a:rPr>
              <a:t> </a:t>
            </a:r>
            <a:r>
              <a:rPr sz="1800" i="0" b="0">
                <a:latin typeface="Helvetica Neue" charset="0"/>
                <a:ea typeface="Söhne" charset="0"/>
              </a:rPr>
              <a:t>making</a:t>
            </a:r>
            <a:r>
              <a:rPr sz="1800" i="0" b="0">
                <a:latin typeface="Helvetica Neue" charset="0"/>
                <a:ea typeface="Söhne" charset="0"/>
              </a:rPr>
              <a:t> it easier to </a:t>
            </a:r>
            <a:r>
              <a:rPr sz="1800" i="0" b="0">
                <a:latin typeface="Helvetica Neue" charset="0"/>
                <a:ea typeface="Söhne" charset="0"/>
              </a:rPr>
              <a:t>handle</a:t>
            </a:r>
            <a:r>
              <a:rPr sz="1800" i="0" b="0">
                <a:latin typeface="Helvetica Neue" charset="0"/>
                <a:ea typeface="Söhne" charset="0"/>
              </a:rPr>
              <a:t> and organize </a:t>
            </a:r>
            <a:r>
              <a:rPr sz="1800" i="0" b="0">
                <a:latin typeface="Helvetica Neue" charset="0"/>
                <a:ea typeface="Söhne" charset="0"/>
              </a:rPr>
              <a:t>your</a:t>
            </a:r>
            <a:r>
              <a:rPr sz="1800" i="0" b="0">
                <a:latin typeface="Helvetica Neue" charset="0"/>
                <a:ea typeface="Söhne" charset="0"/>
              </a:rPr>
              <a:t> projects, skills, and other relevant </a:t>
            </a:r>
            <a:r>
              <a:rPr sz="1800" i="0" b="0">
                <a:latin typeface="Helvetica Neue" charset="0"/>
                <a:ea typeface="Söhne" charset="0"/>
              </a:rPr>
              <a:t>information.</a:t>
            </a:r>
            <a:endParaRPr lang="ko-KR" altLang="en-US" sz="1800" i="0" b="0">
              <a:latin typeface="Helvetica Neue" charset="0"/>
              <a:ea typeface="Söhne" charset="0"/>
            </a:endParaRPr>
          </a:p>
          <a:p>
            <a:pPr marL="0" indent="0" algn="l"/>
            <a:endParaRPr lang="ko-KR" altLang="en-US" sz="1800" i="0" b="0">
              <a:latin typeface="Helvetica Neue" charset="0"/>
              <a:ea typeface="Söhne" charset="0"/>
            </a:endParaRPr>
          </a:p>
          <a:p>
            <a:pPr marL="0" indent="0" algn="l"/>
            <a:r>
              <a:rPr sz="1800" i="0" b="0">
                <a:latin typeface="Helvetica Neue" charset="0"/>
                <a:ea typeface="Söhne" charset="0"/>
              </a:rPr>
              <a:t>4.</a:t>
            </a:r>
            <a:r>
              <a:rPr sz="1800" i="0" b="0">
                <a:latin typeface="Helvetica Neue" charset="0"/>
                <a:ea typeface="Söhne" charset="0"/>
              </a:rPr>
              <a:t> Authentication and Security: Explore how to </a:t>
            </a:r>
            <a:r>
              <a:rPr sz="1800" i="0" b="0">
                <a:latin typeface="Helvetica Neue" charset="0"/>
                <a:ea typeface="Söhne" charset="0"/>
              </a:rPr>
              <a:t>implement</a:t>
            </a:r>
            <a:r>
              <a:rPr sz="1800" i="0" b="0">
                <a:latin typeface="Helvetica Neue" charset="0"/>
                <a:ea typeface="Söhne" charset="0"/>
              </a:rPr>
              <a:t> user authentication to </a:t>
            </a:r>
            <a:r>
              <a:rPr sz="1800" i="0" b="0">
                <a:latin typeface="Helvetica Neue" charset="0"/>
                <a:ea typeface="Söhne" charset="0"/>
              </a:rPr>
              <a:t>secure</a:t>
            </a:r>
            <a:r>
              <a:rPr sz="1800" i="0" b="0">
                <a:latin typeface="Helvetica Neue" charset="0"/>
                <a:ea typeface="Söhne" charset="0"/>
              </a:rPr>
              <a:t> your </a:t>
            </a:r>
            <a:r>
              <a:rPr sz="1800" i="0" b="0">
                <a:latin typeface="Helvetica Neue" charset="0"/>
                <a:ea typeface="Söhne" charset="0"/>
              </a:rPr>
              <a:t>portfolio.</a:t>
            </a:r>
            <a:r>
              <a:rPr sz="1800" i="0" b="0">
                <a:latin typeface="Helvetica Neue" charset="0"/>
                <a:ea typeface="Söhne" charset="0"/>
              </a:rPr>
              <a:t> </a:t>
            </a:r>
            <a:r>
              <a:rPr sz="1800" i="0" b="0">
                <a:latin typeface="Helvetica Neue" charset="0"/>
                <a:ea typeface="Söhne" charset="0"/>
              </a:rPr>
              <a:t>You'll</a:t>
            </a:r>
            <a:r>
              <a:rPr sz="1800" i="0" b="0">
                <a:latin typeface="Helvetica Neue" charset="0"/>
                <a:ea typeface="Söhne" charset="0"/>
              </a:rPr>
              <a:t> learn </a:t>
            </a:r>
            <a:r>
              <a:rPr sz="1800" i="0" b="0">
                <a:latin typeface="Helvetica Neue" charset="0"/>
                <a:ea typeface="Söhne" charset="0"/>
              </a:rPr>
              <a:t>techniques</a:t>
            </a:r>
            <a:r>
              <a:rPr sz="1800" i="0" b="0">
                <a:latin typeface="Helvetica Neue" charset="0"/>
                <a:ea typeface="Söhne" charset="0"/>
              </a:rPr>
              <a:t> to protect sensitive information </a:t>
            </a:r>
            <a:r>
              <a:rPr sz="1800" i="0" b="0">
                <a:latin typeface="Helvetica Neue" charset="0"/>
                <a:ea typeface="Söhne" charset="0"/>
              </a:rPr>
              <a:t>and</a:t>
            </a:r>
            <a:r>
              <a:rPr sz="1800" i="0" b="0">
                <a:latin typeface="Helvetica Neue" charset="0"/>
                <a:ea typeface="Söhne" charset="0"/>
              </a:rPr>
              <a:t> </a:t>
            </a:r>
            <a:r>
              <a:rPr sz="1800" i="0" b="0">
                <a:latin typeface="Helvetica Neue" charset="0"/>
                <a:ea typeface="Söhne" charset="0"/>
              </a:rPr>
              <a:t>control</a:t>
            </a:r>
            <a:r>
              <a:rPr sz="1800" i="0" b="0">
                <a:latin typeface="Helvetica Neue" charset="0"/>
                <a:ea typeface="Söhne" charset="0"/>
              </a:rPr>
              <a:t> access to </a:t>
            </a:r>
            <a:r>
              <a:rPr sz="1800" i="0" b="0">
                <a:latin typeface="Helvetica Neue" charset="0"/>
                <a:ea typeface="Söhne" charset="0"/>
              </a:rPr>
              <a:t>certain</a:t>
            </a:r>
            <a:r>
              <a:rPr sz="1800" i="0" b="0">
                <a:latin typeface="Helvetica Neue" charset="0"/>
                <a:ea typeface="Söhne" charset="0"/>
              </a:rPr>
              <a:t> sections of your portfolio.</a:t>
            </a:r>
            <a:endParaRPr lang="ko-KR" altLang="en-US" sz="1800" i="0" b="0">
              <a:latin typeface="Helvetica Neue" charset="0"/>
              <a:ea typeface="Söhne" charset="0"/>
            </a:endParaRPr>
          </a:p>
          <a:p>
            <a:pPr marL="0" indent="0" algn="l"/>
            <a:endParaRPr lang="ko-KR" altLang="en-US" sz="1800" i="0" b="0">
              <a:latin typeface="Helvetica Neue" charset="0"/>
              <a:ea typeface="Söhne" charset="0"/>
            </a:endParaRPr>
          </a:p>
          <a:p>
            <a:pPr marL="457200" indent="-457200" latinLnBrk="0"/>
            <a:r>
              <a:rPr lang="en-US" sz="1800" i="0" b="0">
                <a:latin typeface="Footlight MT Light" charset="0"/>
                <a:ea typeface="Calibri" charset="0"/>
                <a:cs typeface="+mn-cs"/>
              </a:rPr>
              <a:t/>
            </a:r>
            <a:br>
              <a:rPr lang="en-US" sz="1800" i="0" b="0">
                <a:latin typeface="Footlight MT Light" charset="0"/>
                <a:ea typeface="Calibri" charset="0"/>
                <a:cs typeface="+mn-cs"/>
              </a:rPr>
            </a:br>
            <a:endParaRPr lang="ko-KR" altLang="en-US" sz="1800" i="0" b="0">
              <a:latin typeface="Footlight MT Light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 advTm="4000">
        <p:cut/>
      </p:transition>
    </mc:Choice>
    <mc:Fallback>
      <p:transition spd="slow" advTm="4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345" y="116840"/>
            <a:ext cx="540067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  <a:cs typeface="Times New Roman" pitchFamily="18" charset="0"/>
              </a:rPr>
              <a:t>Project Highlights: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6" descr="/Users/apple/Library/Group Containers/L48J367XN4.com.infraware.PolarisOffice/EngineTemp/4083/fImage40609781573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919480"/>
            <a:ext cx="9144635" cy="57156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 advTm="4000">
        <p:cut/>
      </p:transition>
    </mc:Choice>
    <mc:Fallback>
      <p:transition spd="slow" advTm="4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/Users/apple/Library/Group Containers/L48J367XN4.com.infraware.PolarisOffice/EngineTemp/4083/fImage456892763133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937895"/>
            <a:ext cx="9144635" cy="5715635"/>
          </a:xfrm>
          <a:prstGeom prst="rect"/>
          <a:noFill/>
        </p:spPr>
      </p:pic>
    </p:spTree>
    <p:extLst>
      <p:ext uri="{BB962C8B-B14F-4D97-AF65-F5344CB8AC3E}">
        <p14:creationId xmlns:p14="http://schemas.microsoft.com/office/powerpoint/2010/main" val="3897544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 advTm="4000">
        <p:cut/>
      </p:transition>
    </mc:Choice>
    <mc:Fallback>
      <p:transition spd="slow" advTm="4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4AFA51-3DBB-EA7D-BA34-32B4552B1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880" y="1124585"/>
            <a:ext cx="9032875" cy="5080635"/>
          </a:xfrm>
          <a:prstGeom prst="rect">
            <a:avLst/>
          </a:prstGeom>
        </p:spPr>
      </p:pic>
      <p:pic>
        <p:nvPicPr>
          <p:cNvPr id="5" name="Picture 2" descr="/Users/apple/Library/Group Containers/L48J367XN4.com.infraware.PolarisOffice/EngineTemp/4083/fImage4653837759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956945"/>
            <a:ext cx="9144635" cy="5715635"/>
          </a:xfrm>
          <a:prstGeom prst="rect"/>
          <a:noFill/>
        </p:spPr>
      </p:pic>
    </p:spTree>
    <p:extLst>
      <p:ext uri="{BB962C8B-B14F-4D97-AF65-F5344CB8AC3E}">
        <p14:creationId xmlns:p14="http://schemas.microsoft.com/office/powerpoint/2010/main" val="4227672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 advTm="4000">
        <p:cut/>
      </p:transition>
    </mc:Choice>
    <mc:Fallback>
      <p:transition spd="slow" advTm="4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85B42-CABF-ECBA-4B33-692A5FB17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215" y="0"/>
            <a:ext cx="5486400" cy="914400"/>
          </a:xfrm>
        </p:spPr>
        <p:txBody>
          <a:bodyPr/>
          <a:lstStyle/>
          <a:p>
            <a:pPr algn="l"/>
            <a:r>
              <a:rPr lang="en-US" sz="4000" b="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Output:</a:t>
            </a:r>
            <a:endParaRPr lang="en-IN" sz="4000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DD91CC-777E-6B9C-C0B9-0F30FB3A13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4035" cy="472503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99E239-D0B0-4DE6-A19C-F467EEB52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9144000" cy="5257800"/>
          </a:xfrm>
          <a:prstGeom prst="rect">
            <a:avLst/>
          </a:prstGeom>
        </p:spPr>
      </p:pic>
      <p:pic>
        <p:nvPicPr>
          <p:cNvPr id="6" name="Picture 3" descr="/Users/apple/Library/Group Containers/L48J367XN4.com.infraware.PolarisOffice/EngineTemp/4083/fImage189758783720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1204595"/>
            <a:ext cx="9144635" cy="5194935"/>
          </a:xfrm>
          <a:prstGeom prst="rect"/>
          <a:noFill/>
        </p:spPr>
      </p:pic>
    </p:spTree>
    <p:extLst>
      <p:ext uri="{BB962C8B-B14F-4D97-AF65-F5344CB8AC3E}">
        <p14:creationId xmlns:p14="http://schemas.microsoft.com/office/powerpoint/2010/main" val="2375387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 advTm="4000">
        <p:cut/>
      </p:transition>
    </mc:Choice>
    <mc:Fallback>
      <p:transition spd="slow" advTm="4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F535DB-AE3A-4825-BA7E-70062900A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9144000" cy="5181600"/>
          </a:xfrm>
          <a:prstGeom prst="rect">
            <a:avLst/>
          </a:prstGeom>
        </p:spPr>
      </p:pic>
      <p:pic>
        <p:nvPicPr>
          <p:cNvPr id="4" name="Picture 4" descr="/Users/apple/Library/Group Containers/L48J367XN4.com.infraware.PolarisOffice/EngineTemp/4083/fImage28884779876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1082675"/>
            <a:ext cx="9144635" cy="5239385"/>
          </a:xfrm>
          <a:prstGeom prst="rect"/>
          <a:noFill/>
        </p:spPr>
      </p:pic>
    </p:spTree>
    <p:extLst>
      <p:ext uri="{BB962C8B-B14F-4D97-AF65-F5344CB8AC3E}">
        <p14:creationId xmlns:p14="http://schemas.microsoft.com/office/powerpoint/2010/main" val="921454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 advTm="4000">
        <p:cut/>
      </p:transition>
    </mc:Choice>
    <mc:Fallback>
      <p:transition spd="slow" advTm="4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/Users/apple/Library/Group Containers/L48J367XN4.com.infraware.PolarisOffice/EngineTemp/4083/fImage100882806633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1114425"/>
            <a:ext cx="9144635" cy="5201285"/>
          </a:xfrm>
          <a:prstGeom prst="rect"/>
          <a:noFill/>
        </p:spPr>
      </p:pic>
    </p:spTree>
    <p:extLst>
      <p:ext uri="{BB962C8B-B14F-4D97-AF65-F5344CB8AC3E}">
        <p14:creationId xmlns:p14="http://schemas.microsoft.com/office/powerpoint/2010/main" val="1723977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 advTm="4000">
        <p:cut/>
      </p:transition>
    </mc:Choice>
    <mc:Fallback>
      <p:transition spd="slow" advTm="4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33C118D-AA4E-9F51-CE81-8C91E241B464}"/>
              </a:ext>
            </a:extLst>
          </p:cNvPr>
          <p:cNvSpPr txBox="1"/>
          <p:nvPr/>
        </p:nvSpPr>
        <p:spPr>
          <a:xfrm>
            <a:off x="323528" y="116632"/>
            <a:ext cx="52565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Conclusion:</a:t>
            </a:r>
            <a:endParaRPr lang="en-IN" sz="4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9FDC1E-124F-4A46-A296-05F465F71485}"/>
              </a:ext>
            </a:extLst>
          </p:cNvPr>
          <p:cNvSpPr/>
          <p:nvPr/>
        </p:nvSpPr>
        <p:spPr>
          <a:xfrm>
            <a:off x="1295400" y="1752600"/>
            <a:ext cx="6553200" cy="367104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DF6AFD-5118-4E8B-94AA-F7156A9BDE30}"/>
              </a:ext>
            </a:extLst>
          </p:cNvPr>
          <p:cNvSpPr txBox="1"/>
          <p:nvPr/>
        </p:nvSpPr>
        <p:spPr>
          <a:xfrm>
            <a:off x="1638300" y="1949440"/>
            <a:ext cx="5867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Footlight MT Light" panose="0204060206030A020304" pitchFamily="18" charset="0"/>
              </a:rPr>
              <a:t>Responsive design can help you solve a lot of problems for your website. It will make your site mobile-friendly, improve the way it looks on devices with both large and small screens. So using HTML and CSS code , we have designed a portfolio which is responsive and can adjust itself according to the width of the screen of any device successfully.</a:t>
            </a:r>
          </a:p>
        </p:txBody>
      </p:sp>
    </p:spTree>
  </p:cSld>
  <p:clrMapOvr>
    <a:masterClrMapping/>
  </p:clrMapOvr>
  <p:transition advTm="4000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605" y="116840"/>
            <a:ext cx="540067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  <a:cs typeface="Times New Roman" pitchFamily="18" charset="0"/>
              </a:rPr>
              <a:t>References Used: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5605" y="1196975"/>
            <a:ext cx="8137525" cy="1568450"/>
          </a:xfrm>
          <a:prstGeom prst="rect">
            <a:avLst/>
          </a:prstGeom>
        </p:spPr>
        <p:txBody>
          <a:bodyPr wrap="square" lIns="91440" tIns="45720" rIns="91440" bIns="45720" numCol="1" vert="horz" anchor="t">
            <a:spAutoFit/>
          </a:bodyPr>
          <a:lstStyle/>
          <a:p>
            <a:pPr marL="457200" indent="-457200" latinLnBrk="0">
              <a:buFont typeface="Wingdings"/>
              <a:buChar char="Ø"/>
            </a:pPr>
            <a:r>
              <a:rPr lang="en-US" sz="3200">
                <a:effectLst>
                  <a:outerShdw sx="100000" sy="100000" blurRad="38100" dist="19050" dir="2700000" rotWithShape="0" algn="tl">
                    <a:schemeClr val="dk1">
                      <a:alpha val="40000"/>
                    </a:schemeClr>
                  </a:outerShdw>
                </a:effectLst>
                <a:latin typeface="Times New Roman" charset="0"/>
                <a:cs typeface="Times New Roman" charset="0"/>
              </a:rPr>
              <a:t>Code With Harry (YouTube)</a:t>
            </a:r>
            <a:endParaRPr lang="ko-KR" altLang="en-US" sz="3200">
              <a:latin typeface="Times New Roman" charset="0"/>
              <a:cs typeface="Times New Roman" charset="0"/>
            </a:endParaRPr>
          </a:p>
          <a:p>
            <a:pPr marL="457200" indent="-457200" latinLnBrk="0">
              <a:buFont typeface="Wingdings"/>
              <a:buChar char="Ø"/>
            </a:pPr>
            <a:r>
              <a:rPr lang="en-US" sz="3200">
                <a:effectLst>
                  <a:outerShdw sx="100000" sy="100000" blurRad="38100" dist="19050" dir="2700000" rotWithShape="0" algn="tl">
                    <a:schemeClr val="dk1">
                      <a:alpha val="40000"/>
                    </a:schemeClr>
                  </a:outerShdw>
                </a:effectLst>
                <a:latin typeface="Times New Roman" charset="0"/>
                <a:cs typeface="Times New Roman" charset="0"/>
              </a:rPr>
              <a:t>w3 School</a:t>
            </a:r>
            <a:endParaRPr lang="ko-KR" altLang="en-US" sz="3200">
              <a:latin typeface="Times New Roman" charset="0"/>
              <a:cs typeface="Times New Roman" charset="0"/>
            </a:endParaRPr>
          </a:p>
          <a:p>
            <a:pPr marL="457200" indent="-457200" latinLnBrk="0">
              <a:buFont typeface="Wingdings"/>
              <a:buChar char="Ø"/>
            </a:pPr>
            <a:r>
              <a:rPr lang="en-US" sz="3200">
                <a:effectLst>
                  <a:outerShdw sx="100000" sy="100000" blurRad="38100" dist="19050" dir="2700000" rotWithShape="0" algn="tl">
                    <a:schemeClr val="dk1">
                      <a:alpha val="40000"/>
                    </a:schemeClr>
                  </a:outerShdw>
                </a:effectLst>
                <a:latin typeface="Times New Roman" charset="0"/>
                <a:cs typeface="Times New Roman" charset="0"/>
              </a:rPr>
              <a:t>Books</a:t>
            </a:r>
            <a:endParaRPr lang="ko-KR" altLang="en-US" sz="3200">
              <a:latin typeface="Times New Roman" charset="0"/>
              <a:cs typeface="Times New Roman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" advTm="4000">
        <p:cut/>
      </p:transition>
    </mc:Choice>
    <mc:Fallback>
      <p:transition spd="slow" advTm="4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AutoShape 4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Thank you cards Images | Free Vectors, Stock Photos &amp; PS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57232"/>
            <a:ext cx="9144000" cy="5786478"/>
          </a:xfrm>
          <a:prstGeom prst="rect">
            <a:avLst/>
          </a:prstGeom>
          <a:noFill/>
        </p:spPr>
      </p:pic>
    </p:spTree>
  </p:cSld>
  <p:clrMapOvr>
    <a:masterClrMapping/>
  </p:clrMapOvr>
  <p:transition advTm="4000">
    <p:cut/>
  </p:transition>
</p:sld>
</file>

<file path=ppt/theme/theme1.xml><?xml version="1.0" encoding="utf-8"?>
<a:theme xmlns:a="http://schemas.openxmlformats.org/drawingml/2006/main" name="Bubble Sor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AppVersion>12.000</AppVersion>
  <Characters>0</Characters>
  <CharactersWithSpaces>0</CharactersWithSpaces>
  <DocSecurity>0</DocSecurity>
  <HyperlinksChanged>false</HyperlinksChanged>
  <Lines>0</Lines>
  <LinksUpToDate>false</LinksUpToDate>
  <Pages>15</Pages>
  <Paragraphs>49</Paragraphs>
  <Words>543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abc</dc:creator>
  <cp:lastModifiedBy>po_user</cp:lastModifiedBy>
  <dc:title>Cricket</dc:title>
  <dcterms:modified xsi:type="dcterms:W3CDTF">2023-10-10T15:40:36Z</dcterms:modified>
</cp:coreProperties>
</file>